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KoPub돋움체 Bold"/>
              </a:defRPr>
            </a:pPr>
            <a:r>
              <a:t>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1A1A2E"/>
                </a:solidFill>
                <a:latin typeface="KoPub돋움체 Medium"/>
              </a:defRPr>
            </a:pPr>
            <a:r>
              <a:t>EU AI Act 원문 -&gt; LLM 기반 그래프 추출 -&gt; Neo4j 저장 -&gt; 웹 대시보드 시각화</a:t>
            </a:r>
          </a:p>
          <a:p>
            <a:pPr>
              <a:spcAft>
                <a:spcPts val="624"/>
              </a:spcAft>
              <a:defRPr sz="1300">
                <a:solidFill>
                  <a:srgbClr val="1A1A2E"/>
                </a:solidFill>
                <a:latin typeface="KoPub돋움체 Medium"/>
              </a:defRPr>
            </a:pPr>
          </a:p>
          <a:p>
            <a:pPr>
              <a:spcAft>
                <a:spcPts val="624"/>
              </a:spcAft>
              <a:defRPr sz="1300">
                <a:solidFill>
                  <a:srgbClr val="1A1A2E"/>
                </a:solidFill>
                <a:latin typeface="KoPub돋움체 Medium"/>
              </a:defRPr>
            </a:pPr>
            <a:r>
              <a:t>- 백엔드: Neo4j (그래프 DB) + vLLM / Gemini API (계산엔진)</a:t>
            </a:r>
          </a:p>
          <a:p>
            <a:pPr>
              <a:spcAft>
                <a:spcPts val="624"/>
              </a:spcAft>
              <a:defRPr sz="1300">
                <a:solidFill>
                  <a:srgbClr val="1A1A2E"/>
                </a:solidFill>
                <a:latin typeface="KoPub돋움체 Medium"/>
              </a:defRPr>
            </a:pPr>
            <a:r>
              <a:t>- 프론트엔드: Flask + Cytoscape.js (단일 페이지 대시보드)</a:t>
            </a:r>
          </a:p>
          <a:p>
            <a:pPr>
              <a:spcAft>
                <a:spcPts val="624"/>
              </a:spcAft>
              <a:defRPr sz="1300">
                <a:solidFill>
                  <a:srgbClr val="1A1A2E"/>
                </a:solidFill>
                <a:latin typeface="KoPub돋움체 Medium"/>
              </a:defRPr>
            </a:pPr>
            <a:r>
              <a:t>- 재개 가능한 파이프라인, CLI / 웹 이중 실행 모드 지원</a:t>
            </a:r>
          </a:p>
        </p:txBody>
      </p:sp>
      <p:pic>
        <p:nvPicPr>
          <p:cNvPr id="4" name="Picture 3" descr="slide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17520"/>
            <a:ext cx="11247120" cy="15652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KoPub돋움체 Bold"/>
              </a:defRPr>
            </a:pPr>
            <a:r>
              <a:t>설계 원칙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120640" cy="210312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88E5"/>
                </a:solidFill>
                <a:latin typeface="KoPub돋움체 Bold"/>
              </a:defRPr>
            </a:pPr>
            <a:r>
              <a:t>1. 이중 LLM 견고성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666666"/>
                </a:solidFill>
                <a:latin typeface="KoPub돋움체 Medium"/>
              </a:defRPr>
            </a:pPr>
            <a:r>
              <a:t>로컬 vLLM으로 처리량 확보, 실패 청크만 Gemini API로 재시도</a:t>
            </a:r>
          </a:p>
          <a:p>
            <a:pPr>
              <a:spcAft>
                <a:spcPts val="576"/>
              </a:spcAft>
              <a:defRPr sz="1200">
                <a:solidFill>
                  <a:srgbClr val="666666"/>
                </a:solidFill>
                <a:latin typeface="KoPub돋움체 Medium"/>
              </a:defRPr>
            </a:pPr>
            <a:r>
              <a:t>-&gt; 비용 효율성 + 추출 완성도 동시 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120640" cy="210312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88E5"/>
                </a:solidFill>
                <a:latin typeface="KoPub돋움체 Bold"/>
              </a:defRPr>
            </a:pPr>
            <a:r>
              <a:t>2. 그래프 네이티브 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666666"/>
                </a:solidFill>
                <a:latin typeface="KoPub돋움체 Medium"/>
              </a:defRPr>
            </a:pPr>
            <a:r>
              <a:t>엔티티 간 관계를 Neo4j에서 1차 시민(first-class)으로 표현</a:t>
            </a:r>
          </a:p>
          <a:p>
            <a:pPr>
              <a:spcAft>
                <a:spcPts val="576"/>
              </a:spcAft>
              <a:defRPr sz="1200">
                <a:solidFill>
                  <a:srgbClr val="666666"/>
                </a:solidFill>
                <a:latin typeface="KoPub돋움체 Medium"/>
              </a:defRPr>
            </a:pPr>
            <a:r>
              <a:t>GDS 플러그인을 통한 네이티브 그래프 알고리즘(KNN, WCC) 적용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39"/>
            <a:ext cx="5120640" cy="210312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1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88E5"/>
                </a:solidFill>
                <a:latin typeface="KoPub돋움체 Bold"/>
              </a:defRPr>
            </a:pPr>
            <a:r>
              <a:t>3. LLM 기반 엔티티 해소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59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666666"/>
                </a:solidFill>
                <a:latin typeface="KoPub돋움체 Medium"/>
              </a:defRPr>
            </a:pPr>
            <a:r>
              <a:t>임베딩 유사도 + 텍스트 거리로 후보군 축소</a:t>
            </a:r>
          </a:p>
          <a:p>
            <a:pPr>
              <a:spcAft>
                <a:spcPts val="576"/>
              </a:spcAft>
              <a:defRPr sz="1200">
                <a:solidFill>
                  <a:srgbClr val="666666"/>
                </a:solidFill>
                <a:latin typeface="KoPub돋움체 Medium"/>
              </a:defRPr>
            </a:pPr>
            <a:r>
              <a:t>Gemini 구조화 출력으로 최종 병합 판정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49039"/>
            <a:ext cx="5120640" cy="210312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93191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88E5"/>
                </a:solidFill>
                <a:latin typeface="KoPub돋움체 Bold"/>
              </a:defRPr>
            </a:pPr>
            <a:r>
              <a:t>4. 재개 가능한 파이프라인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480559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666666"/>
                </a:solidFill>
                <a:latin typeface="KoPub돋움체 Medium"/>
              </a:defRPr>
            </a:pPr>
            <a:r>
              <a:t>단계별 체크포인트(pickle 존재, 노드 수, WCC 속성) 확인</a:t>
            </a:r>
          </a:p>
          <a:p>
            <a:pPr>
              <a:spcAft>
                <a:spcPts val="576"/>
              </a:spcAft>
              <a:defRPr sz="1200">
                <a:solidFill>
                  <a:srgbClr val="666666"/>
                </a:solidFill>
                <a:latin typeface="KoPub돋움체 Medium"/>
              </a:defRPr>
            </a:pPr>
            <a:r>
              <a:t>중단 후 재처리 없이 이어서 실행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KoPub돋움체 Bold"/>
              </a:defRPr>
            </a:pPr>
            <a:r>
              <a:t>방법론 — 그래프 추출 및 적재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그래프 추출</a:t>
            </a: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  - LLMGraphTransformer로 텍스트 청크에서 엔티티·관계 자동 추출</a:t>
            </a: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  - 4스레드 병렬 처리, 청크당 300초 타임아웃</a:t>
            </a: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  - vLLM (Qwen3-14B-AWQ) 1차 추출 + Gemini API 2차 폴백</a:t>
            </a: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적재</a:t>
            </a: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  - 역직렬화된 GraphDocument를 Neo4j에 일괄 적재</a:t>
            </a: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  - __Entity__ 공통 레이블 부여, MENTIONS 원문 참조 관계 생성</a:t>
            </a:r>
          </a:p>
        </p:txBody>
      </p:sp>
      <p:pic>
        <p:nvPicPr>
          <p:cNvPr id="4" name="Picture 3" descr="slide3_ex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657600"/>
            <a:ext cx="11430000" cy="2495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KoPub돋움체 Bold"/>
              </a:defRPr>
            </a:pPr>
            <a:r>
              <a:t>방법론 — 커뮤니티 탐지 및 엔티티 해소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1단계: 임베딩</a:t>
            </a: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  - multilingual-e5-large -&gt; 엔티티별 1024차원 벡터 생성</a:t>
            </a: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2단계: 커뮤니티 탐지 (GDS)</a:t>
            </a: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  - KNN: 코사인 유사도 &gt;= 0.95 -&gt; SIMILAR 관계 생성</a:t>
            </a: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  - WCC: 연결 컴포넌트 -&gt; 커뮤니티 ID 부여</a:t>
            </a: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3단계: 엔티티 해소</a:t>
            </a: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  - 후보 필터링: APOC 텍스트 편집거리 &lt;= 3</a:t>
            </a: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  - Gemini 구조화 출력(Pydantic 스키마)으로 병합 판정</a:t>
            </a: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  - APOC mergeNodes로 중복 노드 병합</a:t>
            </a:r>
          </a:p>
        </p:txBody>
      </p:sp>
      <p:pic>
        <p:nvPicPr>
          <p:cNvPr id="4" name="Picture 3" descr="slide4_co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114800"/>
            <a:ext cx="11430000" cy="10525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KoPub돋움체 Bold"/>
              </a:defRPr>
            </a:pPr>
            <a:r>
              <a:t>결과 — 인터랙티브 대시보드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1A1A2E"/>
                </a:solidFill>
                <a:latin typeface="KoPub돋움체 Medium"/>
              </a:defRPr>
            </a:pPr>
            <a:r>
              <a:t>- 파이프라인 제어 + 그래프 시각화 + 실시간 로그를 단일 대시보드에 통합</a:t>
            </a:r>
          </a:p>
          <a:p>
            <a:pPr>
              <a:spcAft>
                <a:spcPts val="624"/>
              </a:spcAft>
              <a:defRPr sz="1300">
                <a:solidFill>
                  <a:srgbClr val="1A1A2E"/>
                </a:solidFill>
                <a:latin typeface="KoPub돋움체 Medium"/>
              </a:defRPr>
            </a:pPr>
            <a:r>
              <a:t>- SSE 기반 실시간 로그 스트리밍, 파이프라인 완료 시 그래프 자동 갱신</a:t>
            </a:r>
          </a:p>
          <a:p>
            <a:pPr>
              <a:spcAft>
                <a:spcPts val="624"/>
              </a:spcAft>
              <a:defRPr sz="1300">
                <a:solidFill>
                  <a:srgbClr val="1A1A2E"/>
                </a:solidFill>
                <a:latin typeface="KoPub돋움체 Medium"/>
              </a:defRPr>
            </a:pPr>
            <a:r>
              <a:t>- 5종 레이아웃 알고리즘 전환, 팬/줌 인터랙션 지원</a:t>
            </a:r>
          </a:p>
        </p:txBody>
      </p:sp>
      <p:pic>
        <p:nvPicPr>
          <p:cNvPr id="4" name="Picture 3" descr="screenshot_graph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5486400" cy="2979305"/>
          </a:xfrm>
          <a:prstGeom prst="rect">
            <a:avLst/>
          </a:prstGeom>
        </p:spPr>
      </p:pic>
      <p:pic>
        <p:nvPicPr>
          <p:cNvPr id="5" name="Picture 4" descr="screenshot_graph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86000"/>
            <a:ext cx="5486400" cy="38462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8"/>
              </a:spcAft>
              <a:defRPr sz="1100">
                <a:solidFill>
                  <a:srgbClr val="666666"/>
                </a:solidFill>
                <a:latin typeface="KoPub돋움체 Medium"/>
              </a:defRPr>
            </a:pPr>
            <a:r>
              <a:t>좌: 전체 지식 그래프 네트워크 뷰                    우: 엔티티 간 관계 상세 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  <a:latin typeface="KoPub돋움체 Bold"/>
              </a:defRPr>
            </a:pPr>
            <a:r>
              <a:t>결과 — 파이프라인 산출물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KoPub돋움체 Bold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KoPub돋움체 Bold"/>
                        </a:defRPr>
                      </a:pPr>
                      <a:r>
                        <a:t>값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KoPub돋움체 Medium"/>
                        </a:defRPr>
                      </a:pPr>
                      <a:r>
                        <a:t>입력 문서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KoPub돋움체 Medium"/>
                        </a:defRPr>
                      </a:pPr>
                      <a:r>
                        <a:t>EU AI Act 원문 (텍스트)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KoPub돋움체 Medium"/>
                        </a:defRPr>
                      </a:pPr>
                      <a:r>
                        <a:t>청킹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KoPub돋움체 Medium"/>
                        </a:defRPr>
                      </a:pPr>
                      <a:r>
                        <a:t>Qwen3 토크나이저, 350토큰 / 75 오버랩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KoPub돋움체 Medium"/>
                        </a:defRPr>
                      </a:pPr>
                      <a:r>
                        <a:t>추출 전략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KoPub돋움체 Medium"/>
                        </a:defRPr>
                      </a:pPr>
                      <a:r>
                        <a:t>vLLM 1차 추출 + Gemini 2차 폴백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KoPub돋움체 Medium"/>
                        </a:defRPr>
                      </a:pPr>
                      <a:r>
                        <a:t>최종 노드 수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KoPub돋움체 Medium"/>
                        </a:defRPr>
                      </a:pPr>
                      <a:r>
                        <a:t>475개 (__Entity__)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KoPub돋움체 Medium"/>
                        </a:defRPr>
                      </a:pPr>
                      <a:r>
                        <a:t>최종 엣지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KoPub돋움체 Medium"/>
                        </a:defRPr>
                      </a:pPr>
                      <a:r>
                        <a:t>500개 (관계)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KoPub돋움체 Medium"/>
                        </a:defRPr>
                      </a:pPr>
                      <a:r>
                        <a:t>엔티티 해소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KoPub돋움체 Medium"/>
                        </a:defRPr>
                      </a:pPr>
                      <a:r>
                        <a:t>KNN+WCC 커뮤니티 탐지 -&gt; Gemini 판정 -&gt; APOC 병합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4846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88E5"/>
                </a:solidFill>
                <a:latin typeface="KoPub돋움체 Bold"/>
              </a:defRPr>
            </a:pPr>
            <a:r>
              <a:t>주요 성과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- EU AI Act를 구조화된 지식 그래프로 자동 변환</a:t>
            </a: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- 이중 LLM 전략으로 단일 모델 대비 추출 실패율 감소</a:t>
            </a:r>
          </a:p>
          <a:p>
            <a:pPr>
              <a:spcAft>
                <a:spcPts val="576"/>
              </a:spcAft>
              <a:defRPr sz="1200">
                <a:solidFill>
                  <a:srgbClr val="1A1A2E"/>
                </a:solidFill>
                <a:latin typeface="KoPub돋움체 Medium"/>
              </a:defRPr>
            </a:pPr>
            <a:r>
              <a:t>- 커뮤니티 기반 엔티티 해소로 중복 노드 제거, 그래프 품질 향상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